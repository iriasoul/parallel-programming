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6.xml" ContentType="application/vnd.openxmlformats-officedocument.presentationml.notesSlide+xml"/>
  <Override PartName="/ppt/charts/chart3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94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2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KB/单元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864-4C07-AECD-79AA55F12489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864-4C07-AECD-79AA55F12489}"/>
              </c:ext>
            </c:extLst>
          </c:dPt>
          <c:dPt>
            <c:idx val="2"/>
            <c:invertIfNegative val="0"/>
            <c:bubble3D val="0"/>
            <c:spPr>
              <a:solidFill>
                <a:srgbClr val="115E5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864-4C07-AECD-79AA55F1248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OS 线程</c:v>
                </c:pt>
                <c:pt idx="1">
                  <c:v>Go 协程</c:v>
                </c:pt>
                <c:pt idx="2">
                  <c:v>Python 协程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</c:v>
                </c:pt>
                <c:pt idx="1">
                  <c:v>2.6</c:v>
                </c:pt>
                <c:pt idx="2">
                  <c:v>1.1000000000000001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864-4C07-AECD-79AA55F1248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8"/>
        </c:scaling>
        <c:delete val="0"/>
        <c:axPos val="l"/>
        <c:majorGridlines>
          <c:spPr>
            <a:ln w="6350" cap="flat">
              <a:solidFill>
                <a:srgbClr val="E8ED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µs/个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BCE-4111-973C-E9C02B204594}"/>
              </c:ext>
            </c:extLst>
          </c:dPt>
          <c:dPt>
            <c:idx val="1"/>
            <c:invertIfNegative val="0"/>
            <c:bubble3D val="0"/>
            <c:spPr>
              <a:solidFill>
                <a:srgbClr val="115E5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BCE-4111-973C-E9C02B204594}"/>
              </c:ext>
            </c:extLst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BCE-4111-973C-E9C02B20459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OS 线程</c:v>
                </c:pt>
                <c:pt idx="1">
                  <c:v>Python 协程</c:v>
                </c:pt>
                <c:pt idx="2">
                  <c:v>Go 协程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</c:v>
                </c:pt>
                <c:pt idx="1">
                  <c:v>11.3</c:v>
                </c:pt>
                <c:pt idx="2">
                  <c:v>1.1499999999999999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BCE-4111-973C-E9C02B20459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D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req/s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11A-439B-AE4C-ED7C94ACBBA8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11A-439B-AE4C-ED7C94ACBBA8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11A-439B-AE4C-ED7C94ACBBA8}"/>
              </c:ext>
            </c:extLst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11A-439B-AE4C-ED7C94ACBBA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 b="1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线程池-50</c:v>
                </c:pt>
                <c:pt idx="1">
                  <c:v>线程池-200</c:v>
                </c:pt>
                <c:pt idx="2">
                  <c:v>线程池-1000</c:v>
                </c:pt>
                <c:pt idx="3">
                  <c:v>协程·单线程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2464</c:v>
                </c:pt>
                <c:pt idx="1">
                  <c:v>8620</c:v>
                </c:pt>
                <c:pt idx="2">
                  <c:v>8902</c:v>
                </c:pt>
                <c:pt idx="3">
                  <c:v>53352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11A-439B-AE4C-ED7C94ACBBA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D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1035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468880"/>
            <a:ext cx="45720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69748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并行程序设计 · 技术调研报告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3108960"/>
            <a:ext cx="10817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协程技术调研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85800" y="420624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吕昊远  </a:t>
            </a: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2410668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协程技术调研 · 并行程序设计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88752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310896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6692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59536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</a:t>
            </a:r>
            <a:r>
              <a:rPr lang="en-US" sz="2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r>
              <a:rPr lang="en-US" sz="2500" b="1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将调度由内核转移至用户态的并发机制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85800" y="1725158"/>
            <a:ext cx="105638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</a:t>
            </a:r>
            <a:r>
              <a:rPr lang="en-US" sz="2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所做的,是把</a:t>
            </a: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“应该让谁运行”</a:t>
            </a:r>
            <a:r>
              <a:rPr lang="en-US" sz="2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这一调度决定,从操作系统内核转移到用户态,用一个轻量的状态机或一段很小的栈,来代替开销昂贵的内核线程。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3421370"/>
            <a:ext cx="40968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 err="1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在高并发、且执行时间主要消耗在</a:t>
            </a:r>
            <a:r>
              <a:rPr lang="en-US" sz="15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I/O 等待的场景中,协程能够以更少的资源换取数量级的扩展能力。这也是现代互联网工程的核心技术之一。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52032" y="3016006"/>
            <a:ext cx="4625662" cy="10058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8" name="Shape 6"/>
          <p:cNvSpPr/>
          <p:nvPr/>
        </p:nvSpPr>
        <p:spPr>
          <a:xfrm>
            <a:off x="6352032" y="3016006"/>
            <a:ext cx="4625662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608064" y="3180598"/>
            <a:ext cx="39908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08063" y="3518926"/>
            <a:ext cx="39146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 err="1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如何挂起与恢复</a:t>
            </a: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 </a:t>
            </a:r>
            <a:r>
              <a:rPr lang="en-US" sz="1150" dirty="0" err="1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有栈与无栈两种实现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52032" y="4069111"/>
            <a:ext cx="4625662" cy="10058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352032" y="4069111"/>
            <a:ext cx="4625662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608064" y="4233703"/>
            <a:ext cx="39908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08063" y="4572031"/>
            <a:ext cx="39146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编译器、运行时、操作系统如何分工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52032" y="5128269"/>
            <a:ext cx="4625662" cy="10058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352032" y="5128269"/>
            <a:ext cx="4625662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608064" y="5292861"/>
            <a:ext cx="39908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08063" y="5631189"/>
            <a:ext cx="39146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内存、创建、I/O 吞吐与切换延迟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580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协程技术调研 · 并行程序设计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88752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310896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6692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并发模型的演进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59536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进程到协程</a:t>
            </a:r>
            <a:r>
              <a:rPr lang="zh-CN" altLang="en-US" sz="2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的历史</a:t>
            </a:r>
            <a:r>
              <a:rPr lang="en-US" sz="2500" b="1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演进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2327148" cy="128016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874520"/>
            <a:ext cx="2327148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93976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2569464"/>
            <a:ext cx="2052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一任务一进程,开销过重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086100" y="2514600"/>
            <a:ext cx="356616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15868" y="1874520"/>
            <a:ext cx="2327148" cy="128016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3515868" y="1874520"/>
            <a:ext cx="2327148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2" name="Text 10"/>
          <p:cNvSpPr/>
          <p:nvPr/>
        </p:nvSpPr>
        <p:spPr>
          <a:xfrm>
            <a:off x="3653028" y="2093976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线程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653028" y="2569464"/>
            <a:ext cx="2052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更轻,但仍由内核调度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16168" y="2514600"/>
            <a:ext cx="356616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45936" y="1874520"/>
            <a:ext cx="2327148" cy="128016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345936" y="1874520"/>
            <a:ext cx="2327148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7" name="Text 15"/>
          <p:cNvSpPr/>
          <p:nvPr/>
        </p:nvSpPr>
        <p:spPr>
          <a:xfrm>
            <a:off x="6483096" y="2093976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线程池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483096" y="2569464"/>
            <a:ext cx="2052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复用线程,降低创建开销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746236" y="2514600"/>
            <a:ext cx="356616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76004" y="1874520"/>
            <a:ext cx="2327148" cy="128016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9176004" y="1874520"/>
            <a:ext cx="2327148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9313164" y="2093976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313164" y="2569464"/>
            <a:ext cx="2052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用户态的轻量执行流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3703320"/>
            <a:ext cx="10817352" cy="8686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3703320"/>
            <a:ext cx="10817352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3703320"/>
            <a:ext cx="10268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C10K 问题  </a:t>
            </a:r>
            <a:r>
              <a:rPr lang="en-US" sz="13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当并发连接达到一万乃至更高量级时</a:t>
            </a: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 </a:t>
            </a:r>
            <a:r>
              <a:rPr lang="en-US" sz="13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线程池</a:t>
            </a:r>
            <a:r>
              <a:rPr lang="zh-CN" alt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</a:t>
            </a:r>
            <a:r>
              <a:rPr lang="en-US" sz="13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难以支撑。正是这一现实需求</a:t>
            </a: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 </a:t>
            </a:r>
            <a:r>
              <a:rPr lang="en-US" sz="13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使早在上世纪五六十年代就已提出、却长期未被采用的协程</a:t>
            </a: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 </a:t>
            </a:r>
            <a:r>
              <a:rPr lang="en-US" sz="13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重新进入</a:t>
            </a:r>
            <a:r>
              <a:rPr lang="zh-CN" alt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</a:t>
            </a:r>
            <a:r>
              <a:rPr lang="en-US" sz="13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工程视野</a:t>
            </a: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50194" y="4790297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 err="1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线程对应</a:t>
            </a:r>
            <a:r>
              <a:rPr lang="zh-CN" altLang="en-US" sz="12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r>
              <a:rPr lang="en-US" sz="1200" i="1" dirty="0" err="1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抢占式多任务</a:t>
            </a:r>
            <a:r>
              <a:rPr lang="zh-CN" altLang="en-US" sz="12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</a:t>
            </a:r>
            <a:r>
              <a:rPr lang="en-US" sz="12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 </a:t>
            </a:r>
            <a:r>
              <a:rPr lang="en-US" sz="1200" i="1" dirty="0" err="1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因其安全性在历史岔路口被优先发展</a:t>
            </a:r>
            <a:r>
              <a:rPr lang="en-US" sz="12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;  </a:t>
            </a:r>
            <a:r>
              <a:rPr lang="en-US" sz="1200" i="1" dirty="0" err="1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协程对应</a:t>
            </a:r>
            <a:r>
              <a:rPr lang="zh-CN" altLang="en-US" sz="12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r>
              <a:rPr lang="en-US" sz="1200" i="1" dirty="0" err="1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协作式多任务</a:t>
            </a:r>
            <a:r>
              <a:rPr lang="zh-CN" altLang="en-US" sz="12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</a:t>
            </a:r>
            <a:r>
              <a:rPr lang="en-US" sz="12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 </a:t>
            </a:r>
            <a:r>
              <a:rPr lang="en-US" sz="1200" i="1" dirty="0" err="1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更为轻量</a:t>
            </a:r>
            <a:r>
              <a:rPr lang="en-US" sz="12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 </a:t>
            </a:r>
            <a:r>
              <a:rPr lang="en-US" sz="1200" i="1" dirty="0" err="1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在高并发场景下重新得到重视</a:t>
            </a:r>
            <a:r>
              <a:rPr lang="en-US" sz="12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协程技术调研 · 并行程序设计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588752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310896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6692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问题的根源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59536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线程模型在高并发 I/O 场景下的开销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3331464" cy="210312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874520"/>
            <a:ext cx="3331464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148840"/>
            <a:ext cx="2782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栈内存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587752"/>
            <a:ext cx="2782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MB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960120" y="3291840"/>
            <a:ext cx="2782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每个线程默认预留的虚拟栈;万级并发对地址空间与内存均构成压力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28744" y="1874520"/>
            <a:ext cx="3331464" cy="210312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4428744" y="1874520"/>
            <a:ext cx="3331464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703064" y="2148840"/>
            <a:ext cx="2782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切换成本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03064" y="2587752"/>
            <a:ext cx="2782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2 µs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703064" y="3291840"/>
            <a:ext cx="2782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需陷入内核、重新调度,并伴随 TLB 与缓存失效;实测约 2045 ns/次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71688" y="1874520"/>
            <a:ext cx="3331464" cy="210312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171688" y="1874520"/>
            <a:ext cx="3331464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8446008" y="2148840"/>
            <a:ext cx="2782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创建成本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46008" y="2587752"/>
            <a:ext cx="2782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67 µs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446008" y="3291840"/>
            <a:ext cx="2782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依赖系统调用并在内核中创建对象;实测每线程约 67 µs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438912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线程将每条并发流的创建、切换与内存开销都置于内核之中</a:t>
            </a:r>
            <a:r>
              <a:rPr lang="zh-CN" alt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1400" dirty="0">
              <a:solidFill>
                <a:srgbClr val="1E293B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协程的思路是将这部分开销移至</a:t>
            </a: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600" b="1" dirty="0" err="1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用户态</a:t>
            </a:r>
            <a:r>
              <a:rPr lang="en-US" sz="16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</a:t>
            </a:r>
            <a:r>
              <a:rPr lang="en-US" sz="14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大量协程复用同一线程</a:t>
            </a: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 </a:t>
            </a:r>
            <a:r>
              <a:rPr lang="en-US" sz="14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其间的切换开销与一次普通函数调用相近</a:t>
            </a: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644652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协程技术调研 · 并行程序设计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88752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310896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6692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协程的本质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59536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</a:t>
            </a:r>
            <a:r>
              <a:rPr lang="en-US" sz="2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r>
              <a:rPr lang="en-US" sz="2500" b="1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可中途挂起、并从原位置恢复的函数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85800" y="1554480"/>
            <a:ext cx="1081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普通函数</a:t>
            </a: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一经调用即须运行至 return 才交回控制权;</a:t>
            </a: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</a:t>
            </a: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可在 await / yield 处主动挂起,将线程让出,待条件就绪后再行恢复——挂起时其局部变量与执行位置被完整保存。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496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同一线程上的时间线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 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3474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 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91640" y="2788920"/>
            <a:ext cx="2747223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1691640" y="2788920"/>
            <a:ext cx="27472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35094" y="3474720"/>
            <a:ext cx="2747223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635094" y="3474720"/>
            <a:ext cx="27472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4777" y="2788920"/>
            <a:ext cx="2747223" cy="457200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4777" y="2788920"/>
            <a:ext cx="27472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恢复并继续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91640" y="4023360"/>
            <a:ext cx="9811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遇 await I/O 时挂起,将线程让予 B;待 I/O 就绪后恢复 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4800600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800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69848" y="4745736"/>
            <a:ext cx="2947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69848" y="5148072"/>
            <a:ext cx="2947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状态仅需堆上的小帧或 KB 级小栈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28744" y="4800600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428744" y="4800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12792" y="4745736"/>
            <a:ext cx="2947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协作式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812792" y="5148072"/>
            <a:ext cx="2947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切换时机由挂起点决定,无抢占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71688" y="4800600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8171688" y="4800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55736" y="4745736"/>
            <a:ext cx="2947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以同步写法表达异步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555736" y="5148072"/>
            <a:ext cx="2947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降低异步逻辑的编写复杂度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协程技术调研 · 并行程序设计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588752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310896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6692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实现路线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59536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两种实现路线</a:t>
            </a:r>
            <a:r>
              <a:rPr lang="en-US" sz="2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r>
              <a:rPr lang="en-US" sz="2500" b="1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无栈协程与有栈协程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5180076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691640"/>
            <a:ext cx="4631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无栈协程 Stackless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993392"/>
            <a:ext cx="4631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F5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C++20 · Python · C# · Rust · JS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542032"/>
            <a:ext cx="47228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无独立运行栈,状态保存于堆上的“协程帧”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由编译器将函数改写为状态机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切换仅需保存/恢复少量变量,开销极小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 async/await 关键字,带来“函数染色”问题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23076" y="1645920"/>
            <a:ext cx="5180076" cy="6400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6597396" y="1691640"/>
            <a:ext cx="4631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有栈协程 Stackful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97396" y="1993392"/>
            <a:ext cx="4631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DE9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 goroutine · Java 21 虚拟线程 · Lua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51676" y="2542032"/>
            <a:ext cx="47228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每个协程拥有独立的、可按需增长的小栈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运行时通过切换栈指针 SP 完成挂起与恢复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可在调用栈任意深度挂起,写法与同步代码一致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无需特殊关键字,迁移成本较低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4709160"/>
            <a:ext cx="10817352" cy="96012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4709160"/>
            <a:ext cx="10817352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709160"/>
            <a:ext cx="10268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核心权衡  </a:t>
            </a: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无栈省内存、切换更快,但写法受限;有栈写法自然、可在任意深度挂起,代价是每个协程占用略多内存。二者并无绝对优劣,而是不同的设计取向——Go 选择有栈(以易用性为先),C++ 与 Rust 选择无栈(以零开销抽象为先)。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协程技术调研 · 并行程序设计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88752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310896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6692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底层机制 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59536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无栈协程</a:t>
            </a:r>
            <a:r>
              <a:rPr lang="en-US" sz="2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r>
              <a:rPr lang="en-US" sz="2500" b="1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编译器将函数改写为状态机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85800" y="1600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开发者编写的源码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1920240"/>
            <a:ext cx="5120640" cy="2286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5740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handle():
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 = read(sock)      # 同步段 1
    x = </a:t>
            </a: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db.query(a)  # 挂起点
    y = compute(x)       # 同步段 2
    </a:t>
            </a: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send(y)        # 挂起点
    return done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3063240"/>
            <a:ext cx="6400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760720" y="2697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编译器改写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720840" y="160020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编译器生成的状态机 + 协程帧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20840" y="1965960"/>
            <a:ext cx="4782312" cy="566928"/>
          </a:xfrm>
          <a:prstGeom prst="rect">
            <a:avLst/>
          </a:prstGeom>
          <a:solidFill>
            <a:srgbClr val="D7F5EF"/>
          </a:solidFill>
          <a:ln/>
        </p:spPr>
      </p:sp>
      <p:sp>
        <p:nvSpPr>
          <p:cNvPr id="12" name="Shape 10"/>
          <p:cNvSpPr/>
          <p:nvPr/>
        </p:nvSpPr>
        <p:spPr>
          <a:xfrm>
            <a:off x="6830568" y="2093976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830568" y="2093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69480" y="1965960"/>
            <a:ext cx="4142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 → 执行同步段 1 → 发起 query → 挂起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86016" y="2532888"/>
            <a:ext cx="0" cy="109728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720840" y="2642616"/>
            <a:ext cx="4782312" cy="566928"/>
          </a:xfrm>
          <a:prstGeom prst="rect">
            <a:avLst/>
          </a:prstGeom>
          <a:solidFill>
            <a:srgbClr val="D7F5EF"/>
          </a:solidFill>
          <a:ln/>
        </p:spPr>
      </p:sp>
      <p:sp>
        <p:nvSpPr>
          <p:cNvPr id="17" name="Shape 15"/>
          <p:cNvSpPr/>
          <p:nvPr/>
        </p:nvSpPr>
        <p:spPr>
          <a:xfrm>
            <a:off x="6830568" y="2770632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6830568" y="2770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69480" y="2642616"/>
            <a:ext cx="4142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 完成 → 执行同步段 2 → 发起 send → 挂起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86016" y="3209544"/>
            <a:ext cx="0" cy="109728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720840" y="3319272"/>
            <a:ext cx="4782312" cy="566928"/>
          </a:xfrm>
          <a:prstGeom prst="rect">
            <a:avLst/>
          </a:prstGeom>
          <a:solidFill>
            <a:srgbClr val="D7F5EF"/>
          </a:solidFill>
          <a:ln/>
        </p:spPr>
      </p:sp>
      <p:sp>
        <p:nvSpPr>
          <p:cNvPr id="22" name="Shape 20"/>
          <p:cNvSpPr/>
          <p:nvPr/>
        </p:nvSpPr>
        <p:spPr>
          <a:xfrm>
            <a:off x="6830568" y="3447288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6830568" y="3447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69480" y="3319272"/>
            <a:ext cx="4142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send 完成 → return,销毁帧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20840" y="4014216"/>
            <a:ext cx="4782312" cy="603504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6" name="Shape 24"/>
          <p:cNvSpPr/>
          <p:nvPr/>
        </p:nvSpPr>
        <p:spPr>
          <a:xfrm>
            <a:off x="6720840" y="4014216"/>
            <a:ext cx="4782312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0" y="4014216"/>
            <a:ext cx="4370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协程帧(堆上)  </a:t>
            </a: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保存当前状态号 + 局部变量 a/x/y + 续延指针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4937760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每个挂起点切分出一个状态</a:t>
            </a:r>
            <a:r>
              <a:rPr lang="zh-CN" alt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r>
              <a:rPr lang="en-US" sz="14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局部变量由“栈上”迁移到“堆上的帧</a:t>
            </a: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</a:t>
            </a:r>
            <a:r>
              <a:rPr lang="zh-CN" alt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4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恢复即跳转至对应状态继续</a:t>
            </a:r>
            <a:r>
              <a:rPr lang="zh-CN" alt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运行。</a:t>
            </a:r>
            <a:endParaRPr lang="en-US" altLang="zh-CN" sz="1400" dirty="0">
              <a:solidFill>
                <a:srgbClr val="1E293B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endParaRPr lang="en-US" sz="800" dirty="0">
              <a:solidFill>
                <a:srgbClr val="1E293B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</a:t>
            </a:r>
            <a:r>
              <a:rPr lang="zh-CN" alt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</a:t>
            </a:r>
            <a:r>
              <a:rPr lang="en-US" sz="14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正是无栈协程无需独立栈、且切换约等于一次跳转的原因</a:t>
            </a: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协程技术调研 · 并行程序设计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588752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310896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6692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底层机制 ②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59536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有栈协程</a:t>
            </a:r>
            <a:r>
              <a:rPr lang="en-US" sz="2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r>
              <a:rPr lang="en-US" sz="2500" b="1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运行时为每个协程维护独立小栈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85800" y="1600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个协程对应 N 个独立小栈(KB 级,可按需增长)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1920240" cy="1737360"/>
          </a:xfrm>
          <a:prstGeom prst="rect">
            <a:avLst/>
          </a:prstGeom>
          <a:solidFill>
            <a:srgbClr val="D7F5E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214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 G1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50392" y="2514600"/>
            <a:ext cx="1591056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" y="2514600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帧 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50392" y="2898648"/>
            <a:ext cx="1591056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" y="2898648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帧 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50392" y="3282696"/>
            <a:ext cx="1591056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" y="3282696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帧 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26080" y="2011680"/>
            <a:ext cx="1920240" cy="1737360"/>
          </a:xfrm>
          <a:prstGeom prst="rect">
            <a:avLst/>
          </a:prstGeom>
          <a:solidFill>
            <a:srgbClr val="F4F7FA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21214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 G2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90672" y="2514600"/>
            <a:ext cx="1591056" cy="31089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7" name="Text 15"/>
          <p:cNvSpPr/>
          <p:nvPr/>
        </p:nvSpPr>
        <p:spPr>
          <a:xfrm>
            <a:off x="3090672" y="2514600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帧 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090672" y="2898648"/>
            <a:ext cx="1591056" cy="31089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Text 17"/>
          <p:cNvSpPr/>
          <p:nvPr/>
        </p:nvSpPr>
        <p:spPr>
          <a:xfrm>
            <a:off x="3090672" y="2898648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帧 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090672" y="3282696"/>
            <a:ext cx="1591056" cy="31089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1" name="Text 19"/>
          <p:cNvSpPr/>
          <p:nvPr/>
        </p:nvSpPr>
        <p:spPr>
          <a:xfrm>
            <a:off x="3090672" y="3282696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帧 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66360" y="2011680"/>
            <a:ext cx="1920240" cy="1737360"/>
          </a:xfrm>
          <a:prstGeom prst="rect">
            <a:avLst/>
          </a:prstGeom>
          <a:solidFill>
            <a:srgbClr val="F4F7FA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21214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 G3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330952" y="2514600"/>
            <a:ext cx="1591056" cy="31089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5" name="Text 23"/>
          <p:cNvSpPr/>
          <p:nvPr/>
        </p:nvSpPr>
        <p:spPr>
          <a:xfrm>
            <a:off x="5330952" y="2514600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帧 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30952" y="2898648"/>
            <a:ext cx="1591056" cy="31089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7" name="Text 25"/>
          <p:cNvSpPr/>
          <p:nvPr/>
        </p:nvSpPr>
        <p:spPr>
          <a:xfrm>
            <a:off x="5330952" y="2898648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帧 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30952" y="3282696"/>
            <a:ext cx="1591056" cy="31089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9" name="Text 27"/>
          <p:cNvSpPr/>
          <p:nvPr/>
        </p:nvSpPr>
        <p:spPr>
          <a:xfrm>
            <a:off x="5330952" y="3282696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帧 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3794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02122" y="1600200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用户态调度</a:t>
            </a:r>
            <a:r>
              <a:rPr lang="en-US" sz="12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r>
              <a:rPr lang="en-US" sz="1200" b="1" dirty="0" err="1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切换即切换栈指针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402122" y="1965960"/>
            <a:ext cx="3969272" cy="8686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3" name="Text 31"/>
          <p:cNvSpPr/>
          <p:nvPr/>
        </p:nvSpPr>
        <p:spPr>
          <a:xfrm>
            <a:off x="7402122" y="2084832"/>
            <a:ext cx="396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运行时调度器(用户态)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585002" y="2377440"/>
            <a:ext cx="36405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保存当前协程的 SP / 寄存器 → 载入下一个协程的 SP → 继续执行(不进内核)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402122" y="3017520"/>
            <a:ext cx="45720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7585002" y="3035808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可在任意深度挂起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585002" y="3310128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整条调用栈都在,函数嵌套再深也能暂停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402122" y="3767328"/>
            <a:ext cx="45720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7585002" y="3785616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写法无侵入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585002" y="4059936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普通函数即可,无需 async/await(Go/Java 21)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402122" y="4517136"/>
            <a:ext cx="45720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7585002" y="4535424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栈可增长 / 收缩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585002" y="4809744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 初始约 2KB,按需扩容,省内存且不易爆栈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96696" y="4443984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无栈将状态压缩进“一个堆帧</a:t>
            </a: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”, </a:t>
            </a:r>
            <a:r>
              <a:rPr lang="en-US" sz="12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切换约等于一次跳转</a:t>
            </a: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有栈则保留“一整条栈</a:t>
            </a: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”, </a:t>
            </a:r>
            <a:r>
              <a:rPr lang="en-US" sz="12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可在任意深度挂起</a:t>
            </a: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</a:p>
          <a:p>
            <a:pPr marL="0" indent="0">
              <a:lnSpc>
                <a:spcPct val="125000"/>
              </a:lnSpc>
              <a:buNone/>
            </a:pPr>
            <a:endParaRPr lang="en-US" sz="1200" dirty="0">
              <a:solidFill>
                <a:srgbClr val="1E293B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前者更省、更快但写法受限</a:t>
            </a: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 </a:t>
            </a:r>
            <a:r>
              <a:rPr lang="en-US" sz="12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后者更自然但每协程占用略高</a:t>
            </a: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8580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协程技术调研 · 并行程序设计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588752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310896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6692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调度与 I/O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59536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协作式调度与事件循环</a:t>
            </a:r>
            <a:r>
              <a:rPr lang="en-US" sz="2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r>
              <a:rPr lang="en-US" sz="2500" b="1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协程的唤醒机制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3017520" cy="105156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828800"/>
            <a:ext cx="3017520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568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就绪队列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  C2  C3  C4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51960" y="1828800"/>
            <a:ext cx="4023360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251960" y="19933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事件循环 / 调度器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51960" y="2377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7F5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取出就绪协程 → 恢复执行 → 直至下一挂起点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41080" y="1828800"/>
            <a:ext cx="2862072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41080" y="1993392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 就绪通知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41080" y="2340864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epoll / io_uring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94760" y="2354580"/>
            <a:ext cx="4572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549640" y="2354580"/>
            <a:ext cx="4572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headEnd type="triangle"/>
          </a:ln>
        </p:spPr>
      </p:sp>
      <p:sp>
        <p:nvSpPr>
          <p:cNvPr id="17" name="Text 15"/>
          <p:cNvSpPr/>
          <p:nvPr/>
        </p:nvSpPr>
        <p:spPr>
          <a:xfrm>
            <a:off x="685800" y="315468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 I/O 的完整流转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520440"/>
            <a:ext cx="106344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协程执行到 await,向操作系统注册关注的文件描述符,随后挂起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事件循环转而运行其它就绪协程,不作空等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操作系统通过 epoll / io_uring 通知某文件描述符已就绪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事件循环将对应协程放回就绪队列并恢复执行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4937760"/>
            <a:ext cx="10817352" cy="9144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4937760"/>
            <a:ext cx="10817352" cy="45720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937760"/>
            <a:ext cx="10268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 err="1">
                <a:solidFill>
                  <a:srgbClr val="BE1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协作式调度的代价</a:t>
            </a:r>
            <a:r>
              <a:rPr lang="en-US" sz="1250" b="1" dirty="0">
                <a:solidFill>
                  <a:srgbClr val="BE1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r>
              <a:rPr lang="en-US" sz="1250" b="1" dirty="0" err="1">
                <a:solidFill>
                  <a:srgbClr val="BE1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没有抢占</a:t>
            </a:r>
            <a:r>
              <a:rPr lang="en-US" sz="1250" b="1" dirty="0">
                <a:solidFill>
                  <a:srgbClr val="BE1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  </a:t>
            </a:r>
            <a:r>
              <a:rPr lang="zh-CN" alt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</a:t>
            </a:r>
            <a:r>
              <a:rPr lang="en-US" sz="125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某协程执行阻塞调用或长时间纯计算而不主动挂起</a:t>
            </a: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 将</a:t>
            </a:r>
            <a:r>
              <a:rPr lang="zh-CN" alt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</a:t>
            </a:r>
            <a:r>
              <a:rPr lang="en-US" sz="125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阻塞整个事件循环。这也是协作式调度在操作系统层面未被优先采用的原因</a:t>
            </a:r>
            <a:r>
              <a:rPr lang="zh-CN" alt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25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抢占式的线程在安全性上更有保障</a:t>
            </a: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8580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协程技术调研 · 并行程序设计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88752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310896" cy="64008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6692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实现层次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595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编译器、运行时与操作系统的协同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10817352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82880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011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编译器 / 语言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43230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确定“如何暂停”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434840" y="1828800"/>
            <a:ext cx="6793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 async 函数改写为状态机;确定挂起点与局部变量布局;提供 await / co_await 等原语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163824"/>
            <a:ext cx="10817352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3163824"/>
            <a:ext cx="73152" cy="118872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34670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 / 调度器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05840" y="37673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确定“先运行谁”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434840" y="3163824"/>
            <a:ext cx="6793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以事件循环与就绪队列决定恢复顺序;M:N 将 M 个协程复用到 N 个 OS 线程;封装异步 I/O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4498848"/>
            <a:ext cx="10817352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4498848"/>
            <a:ext cx="73152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6817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操作系统内核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05840" y="51023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确定“何时唤醒”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434840" y="4498848"/>
            <a:ext cx="6793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 epoll / io_uring / IOCP 就绪通知;执行非阻塞 I/O;将承载线程调度至 CPU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594360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语言负责“如何暂停”,运行时负责“先运行谁”,内核负责“何时唤醒”——三者协同,方能实现协程。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协程技术调研 · 并行程序设计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88752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310896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6692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应用范式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59536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四类常见的协程应用范式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5180076" cy="17830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645920"/>
            <a:ext cx="5180076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01952"/>
            <a:ext cx="46314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/ await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377440"/>
            <a:ext cx="4631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以同步写法表达异步 I/O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724912"/>
            <a:ext cx="4631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 C# 首创,Python、JS、Rust 相继跟进;await 处即挂起点,用以消除回调嵌套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23076" y="1645920"/>
            <a:ext cx="5180076" cy="17830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6323076" y="1645920"/>
            <a:ext cx="5180076" cy="45720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12" name="Text 10"/>
          <p:cNvSpPr/>
          <p:nvPr/>
        </p:nvSpPr>
        <p:spPr>
          <a:xfrm>
            <a:off x="6597396" y="1901952"/>
            <a:ext cx="46314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生成器 Generator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97396" y="2377440"/>
            <a:ext cx="4631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惰性产出数据流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97396" y="2724912"/>
            <a:ext cx="4631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yield 暂停并产出一个值;Python、JS 的 generator 是协程的最早形态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3749040"/>
            <a:ext cx="5180076" cy="17830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3749040"/>
            <a:ext cx="5180076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005072"/>
            <a:ext cx="46314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结构化并发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4480560"/>
            <a:ext cx="4631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并发任务具有明确生命周期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4828032"/>
            <a:ext cx="4631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nursery / TaskGroup:子任务随作用域统一创建、等待与取消,避免泄漏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23076" y="3749040"/>
            <a:ext cx="5180076" cy="17830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6323076" y="3749040"/>
            <a:ext cx="5180076" cy="457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2" name="Text 20"/>
          <p:cNvSpPr/>
          <p:nvPr/>
        </p:nvSpPr>
        <p:spPr>
          <a:xfrm>
            <a:off x="6597396" y="4005072"/>
            <a:ext cx="46314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CSP 通道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97396" y="4480560"/>
            <a:ext cx="4631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以通信代替共享内存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97396" y="4828032"/>
            <a:ext cx="4631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 的 goroutine + channel;主张以通信共享内存,而非以共享内存通信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580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协程技术调研 · 并行程序设计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588752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310896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6692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横向对比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59536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五种主流语言的协程支持</a:t>
            </a:r>
            <a:endParaRPr lang="en-US" sz="2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00200"/>
          <a:ext cx="10817352" cy="3794760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47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语言 / 版本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协程类型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调度方式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关键原语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栈 / 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运行时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C++20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由库决定(无内建调度)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co_await / co_yield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堆上协程帧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需三方库 (asio…)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59E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运行时 M:N(含抢占)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 + channel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可增长小栈 ≈ 2KB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内建 GMP 调度器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Python asyncio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单线程事件循环(协作)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async / await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协程对象(堆)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asyncio 事件循环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C# (.NET)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线程池 + 任务调度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async / await + Task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状态机(堆)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TPL / 线程池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Java 21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59E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JVM 挂载到载体线程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虚拟线程(普通代码)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可暂存连续栈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Loom / JVM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5532120"/>
            <a:ext cx="228600" cy="228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978408" y="5504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无栈协程(状态机)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29000" y="5532120"/>
            <a:ext cx="22860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3721608" y="5504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有栈协程(独立小栈)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63640" y="5504688"/>
            <a:ext cx="5239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规律:系统级语言偏向零开销、无内建调度;并发优先的语言则将调度器内置于运行时。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8580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协程技术调研 · 并行程序设计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588752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310896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6692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代表实现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59536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 的 GMP 调度模型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85800" y="155448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 调度器:G(协程) — M(OS 线程) — P(逻辑处理器,持本地队列)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1920240"/>
            <a:ext cx="3200400" cy="1371600"/>
          </a:xfrm>
          <a:prstGeom prst="rect">
            <a:avLst/>
          </a:prstGeom>
          <a:solidFill>
            <a:srgbClr val="D7F5E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84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 本地运行队列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23774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77340" y="23774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157734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0" y="23774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94660" y="23774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299466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508760" y="3474720"/>
            <a:ext cx="155448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474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M0 (OS 线程)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0" y="3291840"/>
            <a:ext cx="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0" y="1920240"/>
            <a:ext cx="3200400" cy="1371600"/>
          </a:xfrm>
          <a:prstGeom prst="rect">
            <a:avLst/>
          </a:prstGeom>
          <a:solidFill>
            <a:srgbClr val="D7F5E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1984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 本地运行队列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97680" y="23774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06340" y="23774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500634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715000" y="23774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57150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23660" y="23774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642366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3474720"/>
            <a:ext cx="155448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3474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 (OS 线程)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715000" y="3291840"/>
            <a:ext cx="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" y="4160520"/>
            <a:ext cx="6675120" cy="4572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416052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全局队列 + work-stealing:P 空闲时从其它 P 取走一半 G 运行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818120" y="1874520"/>
            <a:ext cx="3685032" cy="13716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5" name="Shape 33"/>
          <p:cNvSpPr/>
          <p:nvPr/>
        </p:nvSpPr>
        <p:spPr>
          <a:xfrm>
            <a:off x="7818120" y="1874520"/>
            <a:ext cx="45720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8019288" y="1984248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21 虚拟线程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019288" y="2313432"/>
            <a:ext cx="3300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Loom 的续延(Continuation):虚拟线程遇阻塞即卸下栈、归还载体线程;同步写法,旧代码几乎无需改动即可获百万级并发。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818120" y="3355848"/>
            <a:ext cx="3685032" cy="13716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9" name="Shape 37"/>
          <p:cNvSpPr/>
          <p:nvPr/>
        </p:nvSpPr>
        <p:spPr>
          <a:xfrm>
            <a:off x="7818120" y="3355848"/>
            <a:ext cx="45720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8019288" y="3465576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asyncio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019288" y="3794760"/>
            <a:ext cx="3300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单线程事件循环驱动全部协程,一切围绕一个 loop;实现简单,但纯计算会阻塞整个 loop,需配合进程池。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818120" y="4837176"/>
            <a:ext cx="3685032" cy="13716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43" name="Shape 41"/>
          <p:cNvSpPr/>
          <p:nvPr/>
        </p:nvSpPr>
        <p:spPr>
          <a:xfrm>
            <a:off x="7818120" y="4837176"/>
            <a:ext cx="45720" cy="1371600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44" name="Text 42"/>
          <p:cNvSpPr/>
          <p:nvPr/>
        </p:nvSpPr>
        <p:spPr>
          <a:xfrm>
            <a:off x="8019288" y="4946904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共性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019288" y="5276088"/>
            <a:ext cx="3300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三者皆为 M:N:将大量用户态执行流复用到少量内核线程,使等待几乎不占用资源。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8580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协程技术调研 · 并行程序设计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588752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310896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6692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实验设计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59536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</a:t>
            </a:r>
            <a:r>
              <a:rPr lang="en-US" sz="2500" b="1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实验设计与方法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10817352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600200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实验环境  </a:t>
            </a: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vCPU Intel Xeon @2.8GHz · 3.9 GB RAM · Ubuntu 24.04 · Python 3.12 / Go 1.22 / g++ 13.3(C++20)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2377440"/>
            <a:ext cx="10817352" cy="749808"/>
          </a:xfrm>
          <a:prstGeom prst="rect">
            <a:avLst/>
          </a:prstGeom>
          <a:solidFill>
            <a:srgbClr val="F4F7FA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7744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内存占用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80360" y="2377440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 N 个空闲并发单元并全部挂起,测量进程 RSS 净增量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738360" y="2377440"/>
            <a:ext cx="1764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KB / 单元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3200400"/>
            <a:ext cx="1081735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20040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创建开销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80360" y="3200400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批量创建并完成大量空任务,测量平均创建耗时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38360" y="3200400"/>
            <a:ext cx="1764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µs / 个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4023360"/>
            <a:ext cx="10817352" cy="749808"/>
          </a:xfrm>
          <a:prstGeom prst="rect">
            <a:avLst/>
          </a:prstGeom>
          <a:solidFill>
            <a:srgbClr val="F4F7FA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02336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I/O 吞吐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80360" y="4023360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2000 个请求,每个以 sleep 20ms 模拟 I/O,测量总耗时与吞吐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738360" y="4023360"/>
            <a:ext cx="1764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req·s⁻¹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846320"/>
            <a:ext cx="1081735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84632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切换延迟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880360" y="4846320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紧凑循环内反复挂起 / 恢复,或双线程相互唤醒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38360" y="4846320"/>
            <a:ext cx="1764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ns / 次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580644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 err="1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单核环境排除多核并行带来的干扰</a:t>
            </a:r>
            <a:r>
              <a:rPr lang="en-US" sz="11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 </a:t>
            </a:r>
            <a:r>
              <a:rPr lang="en-US" sz="1100" i="1" dirty="0" err="1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从而聚焦协程在“减少等待”上的本质收益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协程技术调研 · 并行程序设计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88752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310896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6692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实验结果 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59536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内存占用与创建开销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每并发单元内存占用(KB,越低越好)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85800" y="2011680"/>
          <a:ext cx="53035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355080" y="1645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创建单个并发单元的耗时(µs,越低越好)</a:t>
            </a:r>
            <a:endParaRPr lang="en-US" sz="13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6355080" y="2011680"/>
          <a:ext cx="53035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685800" y="4892040"/>
            <a:ext cx="10817352" cy="96012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6"/>
          <p:cNvSpPr/>
          <p:nvPr/>
        </p:nvSpPr>
        <p:spPr>
          <a:xfrm>
            <a:off x="685800" y="4892040"/>
            <a:ext cx="10817352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7"/>
          <p:cNvSpPr/>
          <p:nvPr/>
        </p:nvSpPr>
        <p:spPr>
          <a:xfrm>
            <a:off x="960120" y="4956048"/>
            <a:ext cx="1026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线程约</a:t>
            </a: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16 KB/单元,协程约 1~3 KB,内存占用相差 5~15 倍;创建开销上,OS 线程 67µs 对 Go 协程 1.15µs,相差约 58 倍。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960120" y="5372100"/>
            <a:ext cx="10268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在相同内存下</a:t>
            </a: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 </a:t>
            </a:r>
            <a:r>
              <a:rPr lang="en-US" sz="1400" b="1" dirty="0" err="1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协程可支撑的并发量较线程高出一个数量级</a:t>
            </a: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; </a:t>
            </a:r>
            <a:r>
              <a:rPr lang="en-US" sz="1400" b="1" dirty="0" err="1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</a:t>
            </a: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Go </a:t>
            </a:r>
            <a:r>
              <a:rPr lang="en-US" sz="1400" b="1" dirty="0" err="1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单机</a:t>
            </a:r>
            <a:r>
              <a:rPr lang="zh-CN" alt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</a:t>
            </a:r>
            <a:r>
              <a:rPr lang="en-US" sz="1400" b="1" dirty="0" err="1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可创建百万量级</a:t>
            </a:r>
            <a:r>
              <a:rPr lang="zh-CN" alt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</a:t>
            </a:r>
            <a:r>
              <a:rPr lang="en-US" sz="1400" b="1" dirty="0" err="1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</a:t>
            </a: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400" b="1" dirty="0">
              <a:solidFill>
                <a:srgbClr val="0D9488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68580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协程技术调研 · 并行程序设计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0588752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310896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6692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实验结果 ②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59536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I/O 吞吐与上下文切换延迟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 2000 个 I/O </a:t>
            </a:r>
            <a:r>
              <a:rPr lang="en-US" sz="1300" b="1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请求的吞吐</a:t>
            </a:r>
            <a:r>
              <a:rPr lang="zh-CN" alt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85800" y="2011680"/>
          <a:ext cx="630936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7406640" y="1645920"/>
            <a:ext cx="4096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上下文切换延迟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406640" y="2057400"/>
            <a:ext cx="4096512" cy="1097280"/>
          </a:xfrm>
          <a:prstGeom prst="rect">
            <a:avLst/>
          </a:prstGeom>
          <a:solidFill>
            <a:srgbClr val="FEF6E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35240" y="214884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 线程切换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35240" y="2414016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7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2045 ns</a:t>
            </a:r>
            <a:endParaRPr lang="en-US" sz="3700" dirty="0"/>
          </a:p>
        </p:txBody>
      </p:sp>
      <p:sp>
        <p:nvSpPr>
          <p:cNvPr id="11" name="Shape 8"/>
          <p:cNvSpPr/>
          <p:nvPr/>
        </p:nvSpPr>
        <p:spPr>
          <a:xfrm>
            <a:off x="7406640" y="3291840"/>
            <a:ext cx="4096512" cy="1097280"/>
          </a:xfrm>
          <a:prstGeom prst="rect">
            <a:avLst/>
          </a:prstGeom>
          <a:solidFill>
            <a:srgbClr val="D7F5E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35240" y="338328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C++20 协程切换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635240" y="3648456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7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1.85 ns</a:t>
            </a:r>
            <a:endParaRPr lang="en-US" sz="3700" dirty="0"/>
          </a:p>
        </p:txBody>
      </p:sp>
      <p:sp>
        <p:nvSpPr>
          <p:cNvPr id="14" name="Shape 11"/>
          <p:cNvSpPr/>
          <p:nvPr/>
        </p:nvSpPr>
        <p:spPr>
          <a:xfrm>
            <a:off x="10131552" y="4407408"/>
            <a:ext cx="1325880" cy="43891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2"/>
          <p:cNvSpPr/>
          <p:nvPr/>
        </p:nvSpPr>
        <p:spPr>
          <a:xfrm>
            <a:off x="10131552" y="440740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1100×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5800" y="4937760"/>
            <a:ext cx="10817352" cy="9144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17" name="Text 14"/>
          <p:cNvSpPr/>
          <p:nvPr/>
        </p:nvSpPr>
        <p:spPr>
          <a:xfrm>
            <a:off x="960120" y="5010912"/>
            <a:ext cx="1026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单线程协程吞吐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53352 req/s,约为 50 线程池的 21 倍;上下文切换耗时约为内核线程的 1/1100。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60120" y="5393286"/>
            <a:ext cx="10268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线程池扩至 1000 </a:t>
            </a:r>
            <a:r>
              <a:rPr lang="en-US" sz="1400" b="1" dirty="0" err="1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后吞吐提升有限</a:t>
            </a: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r>
              <a:rPr lang="en-US" sz="1400" b="1" dirty="0" err="1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线程数过多时,调度与竞争开销抵消了增益</a:t>
            </a: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; </a:t>
            </a:r>
            <a:r>
              <a:rPr lang="en-US" sz="1400" b="1" dirty="0" err="1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协程则基本消除了这部分成本</a:t>
            </a: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400" b="1" dirty="0">
              <a:solidFill>
                <a:srgbClr val="0D9488"/>
              </a:solidFill>
            </a:endParaRPr>
          </a:p>
        </p:txBody>
      </p:sp>
      <p:sp>
        <p:nvSpPr>
          <p:cNvPr id="19" name="Text 16"/>
          <p:cNvSpPr/>
          <p:nvPr/>
        </p:nvSpPr>
        <p:spPr>
          <a:xfrm>
            <a:off x="68580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协程技术调研 · 并行程序设计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588752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310896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6692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结果分析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59536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性能差异的成因与适用边界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5180076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00200"/>
            <a:ext cx="4722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I/O 场景下协程占优的原因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212848"/>
            <a:ext cx="48143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等待不占用线程,大量 I/O 等待重叠在同一线程上</a:t>
            </a:r>
            <a:endParaRPr lang="en-US" sz="1250" dirty="0"/>
          </a:p>
          <a:p>
            <a:pPr marL="165100" indent="-1651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切换在用户态完成,无系统调用、无内核调度,且对缓存友好</a:t>
            </a:r>
            <a:endParaRPr lang="en-US" sz="1250" dirty="0"/>
          </a:p>
          <a:p>
            <a:pPr marL="165100" indent="-1651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省去了线程竞争、上下文切换与栈内存的全部开销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23076" y="1600200"/>
            <a:ext cx="5180076" cy="457200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9" name="Text 7"/>
          <p:cNvSpPr/>
          <p:nvPr/>
        </p:nvSpPr>
        <p:spPr>
          <a:xfrm>
            <a:off x="6551676" y="1600200"/>
            <a:ext cx="4722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协程的局限与适用边界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05956" y="2212848"/>
            <a:ext cx="48143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不能加速 CPU 密集任务,纯计算仍需依赖多核 / 多进程</a:t>
            </a:r>
            <a:endParaRPr lang="en-US" sz="1250" dirty="0"/>
          </a:p>
          <a:p>
            <a:pPr marL="165100" indent="-1651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无抢占:单个阻塞调用或死循环即可阻塞整个事件循环</a:t>
            </a:r>
            <a:endParaRPr lang="en-US" sz="1250" dirty="0"/>
          </a:p>
          <a:p>
            <a:pPr marL="165100" indent="-1651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函数染色:async 会沿调用链向上传染</a:t>
            </a:r>
            <a:endParaRPr lang="en-US" sz="1250" dirty="0"/>
          </a:p>
          <a:p>
            <a:pPr marL="165100" indent="-1651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依赖生态配合:一旦引入同步阻塞库,异步优势即告消失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4572000"/>
            <a:ext cx="10817352" cy="128016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4572000"/>
            <a:ext cx="10817352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700016"/>
            <a:ext cx="10268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5047488"/>
            <a:ext cx="10268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</a:t>
            </a:r>
            <a:r>
              <a:rPr lang="zh-CN" alt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</a:t>
            </a: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r>
              <a:rPr lang="en-US" sz="1300" b="1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更快的线程</a:t>
            </a: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”,</a:t>
            </a:r>
            <a:r>
              <a:rPr lang="zh-CN" alt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300" b="1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它消除的是等待的开销</a:t>
            </a: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 </a:t>
            </a:r>
            <a:r>
              <a:rPr lang="en-US" sz="1300" b="1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而非提供额外的算力</a:t>
            </a: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它将 I/O </a:t>
            </a:r>
            <a:r>
              <a:rPr lang="en-US" sz="1300" dirty="0" err="1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等待的成本压缩至接近于零</a:t>
            </a: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; 但</a:t>
            </a:r>
            <a:r>
              <a:rPr lang="zh-CN" alt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</a:t>
            </a:r>
            <a:r>
              <a:rPr lang="en-US" sz="1300" dirty="0" err="1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需要真正的并行算力</a:t>
            </a:r>
            <a:r>
              <a:rPr lang="zh-CN" alt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</a:t>
            </a: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 仍</a:t>
            </a:r>
            <a:r>
              <a:rPr lang="zh-CN" alt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</a:t>
            </a:r>
            <a:r>
              <a:rPr lang="en-US" sz="1300" dirty="0" err="1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依赖多核与多进程</a:t>
            </a:r>
            <a:r>
              <a:rPr lang="zh-CN" alt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等技术</a:t>
            </a: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r>
              <a:rPr lang="en-US" sz="1300" dirty="0" err="1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将计算密集部分交由线程池或进程池</a:t>
            </a: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 </a:t>
            </a:r>
            <a:r>
              <a:rPr lang="en-US" sz="1300" dirty="0" err="1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让协程专注处理</a:t>
            </a: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I/O, </a:t>
            </a:r>
            <a:r>
              <a:rPr lang="en-US" sz="1300" dirty="0" err="1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是较为稳妥的混合方式</a:t>
            </a: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协程技术调研 · 并行程序设计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88752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310896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6692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工程选型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59536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并发模型的选型框架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3300984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91640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I/O 密集 + 高并发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" y="2331720"/>
            <a:ext cx="3300984" cy="24688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532888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优先采用协程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3063240"/>
            <a:ext cx="27980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/ API 服务、网关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 / RPC 代理、消息中转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海量长连接(IM、推送)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43984" y="1691640"/>
            <a:ext cx="3300984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443984" y="1691640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密集 / 重计算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443984" y="2331720"/>
            <a:ext cx="3300984" cy="24688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4443984" y="2532888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采用并行,而非协程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18304" y="3063240"/>
            <a:ext cx="27980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多进程 / </a:t>
            </a:r>
            <a:r>
              <a:rPr lang="en-US" sz="12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多线程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SIMD / GPU / </a:t>
            </a:r>
            <a:r>
              <a:rPr lang="en-US" sz="12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线程池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此场景下协程无收益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02168" y="1691640"/>
            <a:ext cx="3300984" cy="566928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16" name="Text 14"/>
          <p:cNvSpPr/>
          <p:nvPr/>
        </p:nvSpPr>
        <p:spPr>
          <a:xfrm>
            <a:off x="8202168" y="1691640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混合负载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202168" y="2331720"/>
            <a:ext cx="3300984" cy="24688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8202168" y="2532888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 + 计算卸载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76488" y="3063240"/>
            <a:ext cx="27980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以协程主循环处理 I/O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将计算交由进程 / 线程池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避免在协程内编写阻塞调用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5120640"/>
            <a:ext cx="10817352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5120640"/>
            <a:ext cx="10268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选型要点  </a:t>
            </a:r>
            <a:r>
              <a:rPr lang="en-US" sz="1300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落地前首先判断瓶颈在于“等待”还是“计算</a:t>
            </a: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”:  </a:t>
            </a:r>
            <a:r>
              <a:rPr lang="en-US" sz="1300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等待则采用协程</a:t>
            </a: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 </a:t>
            </a:r>
            <a:r>
              <a:rPr lang="en-US" sz="1300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计算则采用并行</a:t>
            </a: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; </a:t>
            </a:r>
            <a:r>
              <a:rPr lang="zh-CN" alt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还需注意</a:t>
            </a:r>
            <a:r>
              <a:rPr lang="en-US" sz="1300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调用链是否均为异步</a:t>
            </a: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协程技术调研 · 并行程序设计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88752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310896" cy="64008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6692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595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10817352" cy="107899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066544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665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1783080"/>
            <a:ext cx="1554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337560" y="1783080"/>
            <a:ext cx="78912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 err="1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用户态、协作式的可挂起函数</a:t>
            </a:r>
            <a:r>
              <a:rPr lang="zh-CN" alt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r>
              <a:rPr lang="en-US" sz="1300" dirty="0" err="1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将调度由内核转移至用户态</a:t>
            </a:r>
            <a:r>
              <a:rPr lang="zh-CN" alt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300" dirty="0" err="1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是其各项优势的根源</a:t>
            </a: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990088"/>
            <a:ext cx="10817352" cy="107899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3273552"/>
            <a:ext cx="512064" cy="51206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2735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91640" y="2990088"/>
            <a:ext cx="1554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37560" y="2990088"/>
            <a:ext cx="78912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 err="1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无栈以编译器生成的状态机加堆帧实现</a:t>
            </a:r>
            <a:r>
              <a:rPr lang="zh-CN" alt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r>
              <a:rPr lang="en-US" sz="1300" dirty="0" err="1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有栈以运行时管理的小栈加栈指针切换实现</a:t>
            </a:r>
            <a:r>
              <a:rPr lang="zh-CN" alt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r>
              <a:rPr lang="en-US" sz="1300" dirty="0" err="1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背后是语言、运行时与操作系统三方协同</a:t>
            </a: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4197096"/>
            <a:ext cx="10817352" cy="107899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960120" y="4480560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480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91640" y="4197096"/>
            <a:ext cx="1554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337560" y="4197096"/>
            <a:ext cx="78912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内存占用相差 5~15 倍</a:t>
            </a:r>
            <a:r>
              <a:rPr lang="zh-CN" alt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300" dirty="0" err="1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创建开销相差数十倍</a:t>
            </a:r>
            <a:r>
              <a:rPr lang="zh-CN" alt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300" dirty="0" err="1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切换延迟相差约</a:t>
            </a: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1100 倍</a:t>
            </a:r>
            <a:r>
              <a:rPr lang="zh-CN" alt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I/O 吞吐约高 21 倍</a:t>
            </a:r>
            <a:r>
              <a:rPr lang="zh-CN" alt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r>
              <a:rPr lang="en-US" sz="1300" dirty="0" err="1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但对</a:t>
            </a: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CPU 密集任务无收益。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5440680"/>
            <a:ext cx="10817352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5440680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展望  </a:t>
            </a: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C++26 </a:t>
            </a:r>
            <a:r>
              <a:rPr lang="en-US" sz="1250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正在标准化统一的异步执行模型</a:t>
            </a:r>
            <a:r>
              <a:rPr lang="zh-CN" alt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</a:t>
            </a:r>
            <a:r>
              <a:rPr lang="en-US" sz="1250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正逐步移除</a:t>
            </a: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GIL</a:t>
            </a:r>
            <a:r>
              <a:rPr lang="zh-CN" alt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r>
              <a:rPr lang="en-US" sz="1250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协程与多核并行之间的分工</a:t>
            </a:r>
            <a:r>
              <a:rPr lang="zh-CN" alt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250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在未来将更加清晰</a:t>
            </a: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8580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协程技术调研 · 并行程序设计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88752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310896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6692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参考资料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59536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文档与</a:t>
            </a:r>
            <a:r>
              <a:rPr lang="en-US" sz="2500" b="1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参考资料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1837194"/>
            <a:ext cx="5534660" cy="7498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837690"/>
            <a:ext cx="45719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837690"/>
            <a:ext cx="159916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C++20 Coroutines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752863" y="1837690"/>
            <a:ext cx="433373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cppreference: Coroutines;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Lewis Baker《Asymmetric Transfer》系列博客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642362"/>
            <a:ext cx="553466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642362"/>
            <a:ext cx="45719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642362"/>
            <a:ext cx="159916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 调度器 GMP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52863" y="2642362"/>
            <a:ext cx="433373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 runtime 源码 runtime/</a:t>
            </a:r>
            <a:r>
              <a:rPr lang="en-US" sz="1200" dirty="0" err="1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proc.go</a:t>
            </a: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Dmitry Vyukov 调度器设计文档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3447034"/>
            <a:ext cx="5534660" cy="7498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3447034"/>
            <a:ext cx="45719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447034"/>
            <a:ext cx="159916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asyncio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752863" y="3447034"/>
            <a:ext cx="433373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官方文档 </a:t>
            </a:r>
            <a:r>
              <a:rPr lang="en-US" sz="1200" dirty="0" err="1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asyncio</a:t>
            </a: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PEP 492 async/</a:t>
            </a:r>
            <a:r>
              <a:rPr lang="en-US" sz="1200" dirty="0" err="1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await、PEP</a:t>
            </a: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3156 </a:t>
            </a:r>
            <a:r>
              <a:rPr lang="en-US" sz="1200" dirty="0" err="1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事件循环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4251706"/>
            <a:ext cx="553466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4251706"/>
            <a:ext cx="45719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251706"/>
            <a:ext cx="159916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C# / Java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752863" y="4251706"/>
            <a:ext cx="433373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Docs: Asynchronous programming;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JEP 444: Virtual Threads / Project Loom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41405" y="1842262"/>
            <a:ext cx="5061747" cy="3159252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2" name="Shape 20"/>
          <p:cNvSpPr/>
          <p:nvPr/>
        </p:nvSpPr>
        <p:spPr>
          <a:xfrm>
            <a:off x="6441405" y="1842262"/>
            <a:ext cx="45719" cy="31592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6715725" y="1842262"/>
            <a:ext cx="126976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</a:rPr>
              <a:t>参考资料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726938" y="2345563"/>
            <a:ext cx="344106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Dan Kegel: The C10K problem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协程技术调研 · 并行程序设计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88752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212B2F4B-2846-2C78-6BE2-3CFEDA0BDBAD}"/>
              </a:ext>
            </a:extLst>
          </p:cNvPr>
          <p:cNvSpPr/>
          <p:nvPr/>
        </p:nvSpPr>
        <p:spPr>
          <a:xfrm>
            <a:off x="6726938" y="2956188"/>
            <a:ext cx="47950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</a:t>
            </a:r>
            <a:r>
              <a:rPr lang="en-US" altLang="zh-CN" sz="1200" dirty="0" err="1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操作系统导论</a:t>
            </a:r>
            <a:r>
              <a:rPr lang="en-US" altLang="zh-CN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》 [</a:t>
            </a:r>
            <a:r>
              <a:rPr lang="zh-CN" alt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</a:t>
            </a:r>
            <a:r>
              <a:rPr lang="en-US" altLang="zh-CN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] Remzi H. Arpaci-Dusseau</a:t>
            </a:r>
            <a:r>
              <a:rPr lang="zh-CN" alt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</a:t>
            </a:r>
            <a:r>
              <a:rPr lang="zh-CN" alt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</a:t>
            </a:r>
            <a:r>
              <a:rPr lang="en-US" altLang="zh-CN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] Andrea C.   Arpaci-Dusseau</a:t>
            </a:r>
            <a:r>
              <a:rPr lang="zh-CN" alt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，王海鹏译</a:t>
            </a:r>
            <a:endParaRPr lang="en-US" sz="1200" dirty="0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EC5779CE-8C12-E10E-6ECC-15BC140C14D7}"/>
              </a:ext>
            </a:extLst>
          </p:cNvPr>
          <p:cNvSpPr/>
          <p:nvPr/>
        </p:nvSpPr>
        <p:spPr>
          <a:xfrm>
            <a:off x="6708069" y="3492754"/>
            <a:ext cx="344106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</a:t>
            </a:r>
            <a:r>
              <a:rPr lang="zh-CN" alt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基于协程的高并发架构研究</a:t>
            </a:r>
            <a:r>
              <a:rPr lang="en-US" altLang="zh-CN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》 </a:t>
            </a:r>
            <a:r>
              <a:rPr lang="zh-CN" alt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刘建，黄才胜</a:t>
            </a:r>
            <a:endParaRPr lang="en-US" sz="1200" dirty="0"/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A41AE4A7-84C2-78D0-9822-1FECB48C941F}"/>
              </a:ext>
            </a:extLst>
          </p:cNvPr>
          <p:cNvSpPr/>
          <p:nvPr/>
        </p:nvSpPr>
        <p:spPr>
          <a:xfrm>
            <a:off x="6726938" y="4067202"/>
            <a:ext cx="344106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</a:t>
            </a:r>
            <a:r>
              <a:rPr lang="zh-CN" alt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高并发</a:t>
            </a:r>
            <a:r>
              <a:rPr lang="en-US" altLang="zh-CN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</a:t>
            </a:r>
            <a:r>
              <a:rPr lang="zh-CN" alt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系统的异步化研究</a:t>
            </a:r>
            <a:r>
              <a:rPr lang="en-US" altLang="zh-CN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》 </a:t>
            </a:r>
            <a:r>
              <a:rPr lang="zh-CN" alt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秦浏杰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1598</Words>
  <Application>Microsoft Office PowerPoint</Application>
  <PresentationFormat>宽屏</PresentationFormat>
  <Paragraphs>375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Microsoft YaHei</vt:lpstr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协程技术调研</dc:title>
  <dc:subject>PptxGenJS Presentation</dc:subject>
  <dc:creator>并行程序设计课程</dc:creator>
  <cp:lastModifiedBy>lenovo</cp:lastModifiedBy>
  <cp:revision>30</cp:revision>
  <dcterms:created xsi:type="dcterms:W3CDTF">2026-06-02T09:06:35Z</dcterms:created>
  <dcterms:modified xsi:type="dcterms:W3CDTF">2026-06-04T08:59:59Z</dcterms:modified>
</cp:coreProperties>
</file>